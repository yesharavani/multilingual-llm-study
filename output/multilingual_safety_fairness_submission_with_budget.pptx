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a781d6d6a94104" /><Relationship Type="http://schemas.openxmlformats.org/officeDocument/2006/relationships/extended-properties" Target="/docProps/app.xml" Id="Ra1a01e63d7104bee" /><Relationship Type="http://schemas.openxmlformats.org/officeDocument/2006/relationships/officeDocument" Target="/ppt/presentation.xml" Id="R626eb4bf8a5044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6757227e2046c9"/>
  </p:sldMasterIdLst>
  <p:notesMasterIdLst>
    <p:notesMasterId xmlns:r="http://schemas.openxmlformats.org/officeDocument/2006/relationships" r:id="R45030623acc64232"/>
  </p:notesMasterIdLst>
  <p:sldIdLst>
    <p:sldId xmlns:r="http://schemas.openxmlformats.org/officeDocument/2006/relationships" id="256" r:id="R2512a85f424c42f2"/>
    <p:sldId xmlns:r="http://schemas.openxmlformats.org/officeDocument/2006/relationships" id="257" r:id="R8f451ebfc7c34c21"/>
    <p:sldId xmlns:r="http://schemas.openxmlformats.org/officeDocument/2006/relationships" id="258" r:id="R4d6662d761b642bc"/>
    <p:sldId xmlns:r="http://schemas.openxmlformats.org/officeDocument/2006/relationships" id="259" r:id="R69e31a73b64045ec"/>
    <p:sldId xmlns:r="http://schemas.openxmlformats.org/officeDocument/2006/relationships" id="260" r:id="R1c8a30cd1d1b4f6c"/>
    <p:sldId xmlns:r="http://schemas.openxmlformats.org/officeDocument/2006/relationships" id="261" r:id="R27d75ff9fec04fa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761ad120bd4d8e" /><Relationship Type="http://schemas.openxmlformats.org/officeDocument/2006/relationships/slideMaster" Target="/ppt/slideMasters/slideMaster1.xml" Id="R0d6757227e2046c9" /><Relationship Type="http://schemas.openxmlformats.org/officeDocument/2006/relationships/notesMaster" Target="/ppt/notesMasters/notesMaster1.xml" Id="R45030623acc64232" /><Relationship Type="http://schemas.openxmlformats.org/officeDocument/2006/relationships/presProps" Target="/ppt/presProps.xml" Id="R049cbfacf30f47b2" /><Relationship Type="http://schemas.openxmlformats.org/officeDocument/2006/relationships/tableStyles" Target="/ppt/tableStyles.xml" Id="R52649792436944c2" /><Relationship Type="http://schemas.openxmlformats.org/officeDocument/2006/relationships/slide" Target="/ppt/slides/slide1.xml" Id="R2512a85f424c42f2" /><Relationship Type="http://schemas.openxmlformats.org/officeDocument/2006/relationships/slide" Target="/ppt/slides/slide2.xml" Id="R8f451ebfc7c34c21" /><Relationship Type="http://schemas.openxmlformats.org/officeDocument/2006/relationships/slide" Target="/ppt/slides/slide3.xml" Id="R4d6662d761b642bc" /><Relationship Type="http://schemas.openxmlformats.org/officeDocument/2006/relationships/slide" Target="/ppt/slides/slide4.xml" Id="R69e31a73b64045ec" /><Relationship Type="http://schemas.openxmlformats.org/officeDocument/2006/relationships/slide" Target="/ppt/slides/slide5.xml" Id="R1c8a30cd1d1b4f6c" /><Relationship Type="http://schemas.openxmlformats.org/officeDocument/2006/relationships/slide" Target="/ppt/slides/slide6.xml" Id="R27d75ff9fec04f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b7771a110549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6ff8df4b8346b7" /><Relationship Type="http://schemas.openxmlformats.org/officeDocument/2006/relationships/notesMaster" Target="/ppt/notesMasters/notesMaster1.xml" Id="Rc1d4cf37621e4b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127f7548374c0d" /><Relationship Type="http://schemas.openxmlformats.org/officeDocument/2006/relationships/notesMaster" Target="/ppt/notesMasters/notesMaster1.xml" Id="Rbb0794f123b849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b4c1234b4e4141" /><Relationship Type="http://schemas.openxmlformats.org/officeDocument/2006/relationships/notesMaster" Target="/ppt/notesMasters/notesMaster1.xml" Id="R213d03093c414c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762cc1c47b4c04" /><Relationship Type="http://schemas.openxmlformats.org/officeDocument/2006/relationships/notesMaster" Target="/ppt/notesMasters/notesMaster1.xml" Id="Rcda6027f6fef44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c245c12cd247e2" /><Relationship Type="http://schemas.openxmlformats.org/officeDocument/2006/relationships/notesMaster" Target="/ppt/notesMasters/notesMaster1.xml" Id="R2b59219888b543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11cb0f7aa14c10" /><Relationship Type="http://schemas.openxmlformats.org/officeDocument/2006/relationships/notesMaster" Target="/ppt/notesMasters/notesMaster1.xml" Id="Rf3e73698b7fa41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slide. Replace the displayed name if the formal submission requires a different full name or group-member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questions finalized during project development.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XSTest: https://aclanthology.org/2024.naacl-long.301/</a:t>
            </a:r>
          </a:p>
          <a:p xmlns:a="http://schemas.openxmlformats.org/drawingml/2006/main">
            <a:r>
              <a:t>OR-Bench: https://arxiv.org/abs/2405.20947</a:t>
            </a:r>
          </a:p>
          <a:p xmlns:a="http://schemas.openxmlformats.org/drawingml/2006/main">
            <a:r>
              <a:t>The Language Barrier: https://aclanthology.org/2024.findings-acl.156/</a:t>
            </a:r>
          </a:p>
          <a:p xmlns:a="http://schemas.openxmlformats.org/drawingml/2006/main">
            <a:r>
              <a:t>Code-Switching Red-Teaming: https://aclanthology.org/2025.acl-long.657/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Gap synthesis based on:</a:t>
            </a:r>
          </a:p>
          <a:p xmlns:a="http://schemas.openxmlformats.org/drawingml/2006/main">
            <a:r>
              <a:t>https://aclanthology.org/2024.naacl-long.301/</a:t>
            </a:r>
          </a:p>
          <a:p xmlns:a="http://schemas.openxmlformats.org/drawingml/2006/main">
            <a:r>
              <a:t>https://arxiv.org/abs/2405.20947</a:t>
            </a:r>
          </a:p>
          <a:p xmlns:a="http://schemas.openxmlformats.org/drawingml/2006/main">
            <a:r>
              <a:t>https://aclanthology.org/2024.findings-acl.156/</a:t>
            </a:r>
          </a:p>
          <a:p xmlns:a="http://schemas.openxmlformats.org/drawingml/2006/main">
            <a:r>
              <a:t>https://aclanthology.org/2025.acl-long.657/</a:t>
            </a:r>
          </a:p>
          <a:p xmlns:a="http://schemas.openxmlformats.org/drawingml/2006/main">
            <a:r>
              <a:t>The gap statements are scoped claims from this initial literature review, not claims that no related work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status reflects files implemented in the workspace. One run yields 6 prompts × 10 conditions × 3 model families = 180 responses.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 calculation and sources, checked 13 October 2026:</a:t>
            </a:r>
          </a:p>
          <a:p xmlns:a="http://schemas.openxmlformats.org/drawingml/2006/main">
            <a:r>
              <a:t>Dataset scale: 60 source prompts × 10 conditions = 600 variants; 600 variants × 3 models = 1,800 model responses.</a:t>
            </a:r>
          </a:p>
          <a:p xmlns:a="http://schemas.openxmlformats.org/drawingml/2006/main">
            <a:r>
              <a:t>Translation assumption: 60 prompts × 6 machine-translated languages × 150 source characters = 54,000 billable characters.</a:t>
            </a:r>
          </a:p>
          <a:p xmlns:a="http://schemas.openxmlformats.org/drawingml/2006/main">
            <a:r>
              <a:t>Model assumption per provider: 600 responses × 120 input tokens = 72,000 input tokens; 600 × 400-token cap = 240,000 maximum output tokens.</a:t>
            </a:r>
          </a:p>
          <a:p xmlns:a="http://schemas.openxmlformats.org/drawingml/2006/main">
            <a:r>
              <a:t>Google Translation paid equivalent: 0.054M × $20 = $1.08. Monthly credit makes the expected cost $0.</a:t>
            </a:r>
          </a:p>
          <a:p xmlns:a="http://schemas.openxmlformats.org/drawingml/2006/main">
            <a:r>
              <a:t>OpenAI: 0.072M × $0.10 + 0.240M × $0.50 = $0.1272.</a:t>
            </a:r>
          </a:p>
          <a:p xmlns:a="http://schemas.openxmlformats.org/drawingml/2006/main">
            <a:r>
              <a:t>Gemini paid equivalent: 0.072M × $0.25 + 0.240M × $1.50 = $0.378.</a:t>
            </a:r>
          </a:p>
          <a:p xmlns:a="http://schemas.openxmlformats.org/drawingml/2006/main">
            <a:r>
              <a:t>Groq paid equivalent: 0.072M × $0.075 + 0.240M × $0.30 = $0.0774. Free-tier token volume requires collection across at least two days.</a:t>
            </a:r>
          </a:p>
          <a:p xmlns:a="http://schemas.openxmlformats.org/drawingml/2006/main">
            <a:r>
              <a:t>All-paid equivalent total: $1.6626. Expected usage with Translation, Gemini, and Groq free tiers: $0.1272.</a:t>
            </a:r>
          </a:p>
          <a:p xmlns:a="http://schemas.openxmlformats.org/drawingml/2006/main">
            <a:r>
              <a:t>OpenAI prepaid billing requires a minimum initial purchase of $5. The recommended authorization is ₹1,000, approximately $10.40 at ₹96 per US dollar.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Google Cloud Translation: https://cloud.google.com/products/translate/pricing</a:t>
            </a:r>
          </a:p>
          <a:p xmlns:a="http://schemas.openxmlformats.org/drawingml/2006/main">
            <a:r>
              <a:t>OpenAI GPT-6 Luna: https://developers.openai.com/api/docs/models/gpt-6-luna</a:t>
            </a:r>
          </a:p>
          <a:p xmlns:a="http://schemas.openxmlformats.org/drawingml/2006/main">
            <a:r>
              <a:t>OpenAI prepaid billing: https://help.openai.com/en/articles/8264644-how-can-i-set-up-prepaid-billing</a:t>
            </a:r>
          </a:p>
          <a:p xmlns:a="http://schemas.openxmlformats.org/drawingml/2006/main">
            <a:r>
              <a:t>Gemini pricing: https://ai.google.dev/gemini-api/docs/pricing</a:t>
            </a:r>
          </a:p>
          <a:p xmlns:a="http://schemas.openxmlformats.org/drawingml/2006/main">
            <a:r>
              <a:t>Groq free rate limits: https://console.groq.com/docs/rate-limits</a:t>
            </a:r>
          </a:p>
          <a:p xmlns:a="http://schemas.openxmlformats.org/drawingml/2006/main">
            <a:r>
              <a:t>Groq GPT-OSS 20B: https://console.groq.com/docs/model/openai/gpt-oss-20b</a:t>
            </a:r>
          </a:p>
          <a:p xmlns:a="http://schemas.openxmlformats.org/drawingml/2006/main">
            <a:r>
              <a:t>USD/INR reference: https://www.investing.com/currencies/usd-inr-historical-data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9f02a4026f41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b64592fd5049e5" /><Relationship Type="http://schemas.openxmlformats.org/officeDocument/2006/relationships/slideLayout" Target="/ppt/slideLayouts/slideLayout1.xml" Id="R25f8a7945e824a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f8a7945e824a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1be5bc3804dd8" /><Relationship Type="http://schemas.openxmlformats.org/officeDocument/2006/relationships/notesSlide" Target="/ppt/notesSlides/notesSlide1.xml" Id="R0958f99d29a34a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e39731a5b43d0" /><Relationship Type="http://schemas.openxmlformats.org/officeDocument/2006/relationships/notesSlide" Target="/ppt/notesSlides/notesSlide2.xml" Id="R9eaf8efa856342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265d416114c8d" /><Relationship Type="http://schemas.openxmlformats.org/officeDocument/2006/relationships/notesSlide" Target="/ppt/notesSlides/notesSlide3.xml" Id="R89f42f443e624d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2475c66314acf" /><Relationship Type="http://schemas.openxmlformats.org/officeDocument/2006/relationships/notesSlide" Target="/ppt/notesSlides/notesSlide4.xml" Id="R40c6ce4350f14d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8cec1534a4868" /><Relationship Type="http://schemas.openxmlformats.org/officeDocument/2006/relationships/notesSlide" Target="/ppt/notesSlides/notesSlide5.xml" Id="Rbb5ca757dc714f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7bb26ac2f4b50" /><Relationship Type="http://schemas.openxmlformats.org/officeDocument/2006/relationships/notesSlide" Target="/ppt/notesSlides/notesSlide6.xml" Id="Rb85add11be964a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A1CEF1-0158-4210-9A8C-5D28B42D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2F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0B9B7-679F-48E7-8970-81C966E8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RESEARCH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00697-272C-43BF-8C1F-8D252EE5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Multilingual Safety</a:t>
            </a:r>
          </a:p>
          <a:p xmlns:a="http://schemas.openxmlformats.org/drawingml/2006/main">
            <a:pPr>
              <a:buNone/>
              <a:def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Fairness in LLMs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E483B-DF66-4867-8EF6-6DAE86F9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962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29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21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A paired audit of safety decisions and helpfulness across Indian languages and communication styles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8ACDD-B76A-4A7B-85E8-3AF9E5E2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76300"/>
            <a:ext cx="3333750" cy="61912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2D2A3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E11A0-44C5-4D47-8101-30955F2A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13239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EDF7F-EB94-4C10-B609-8DF16CF2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1857375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92"/>
          </a:bodyPr>
          <a:lstStyle xmlns:a="http://schemas.openxmlformats.org/drawingml/2006/main"/>
          <a:p xmlns:a="http://schemas.openxmlformats.org/drawingml/2006/main">
            <a:pPr>
              <a:buNone/>
              <a:defRPr sz="487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487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E7447-91CF-4B0F-9BD3-DF2DAB12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609850"/>
            <a:ext cx="2266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 i="0">
                <a:solidFill>
                  <a:srgbClr val="E7DF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7DFDE"/>
                </a:solidFill>
                <a:latin typeface="Arial"/>
                <a:ea typeface="Arial"/>
                <a:cs typeface="Arial"/>
              </a:rPr>
              <a:t>language and style</a:t>
            </a:r>
          </a:p>
          <a:p xmlns:a="http://schemas.openxmlformats.org/drawingml/2006/main">
            <a:pPr>
              <a:buNone/>
              <a:defRPr sz="1650" b="0" i="0">
                <a:solidFill>
                  <a:srgbClr val="E7DF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7DFDE"/>
                </a:solidFill>
                <a:latin typeface="Arial"/>
                <a:ea typeface="Arial"/>
                <a:cs typeface="Arial"/>
              </a:rPr>
              <a:t>conditions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A0CD3-C1F4-4019-85B9-96ACDCD0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5528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076BE-2B4F-40AB-B6D0-DEB1A374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895725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450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4500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6768D-C973-41BA-8160-A5C1F889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5815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buNone/>
              <a:defRPr sz="1650" b="0" i="0">
                <a:solidFill>
                  <a:srgbClr val="E7DF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7DFDE"/>
                </a:solidFill>
                <a:latin typeface="Arial"/>
                <a:ea typeface="Arial"/>
                <a:cs typeface="Arial"/>
              </a:rPr>
              <a:t>LLM families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4D2FC-EB96-4472-ABDA-E1E4DF28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24827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9F049-D93C-49EE-BBC5-2D620020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5911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Primary 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10813-5E5F-465F-BB2B-94466309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915025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4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False-refusal</a:t>
            </a:r>
          </a:p>
          <a:p xmlns:a="http://schemas.openxmlformats.org/drawingml/2006/main">
            <a:pPr>
              <a:buNone/>
              <a:def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CBE17-3136-4998-9851-875AFC8B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857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2F3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AD5EF-6E72-4BC8-AA16-BFB94572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Prepared by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A9996-9720-4B2C-8CEA-201DB4B2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Yesha Ravani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F34A0-BD5B-459C-8AFF-8BD43F32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627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Project proposal submission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E5159-CA17-4CF8-B8F7-D638410C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59DB9-1A63-47F6-B493-D0476963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0053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E3205-A960-4861-A81F-7C869E1B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buNone/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PROJECT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79641-947E-4BC2-8339-4425B319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Research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1C0F2-F5B6-492B-A7DB-CA16C6BC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Equivalent intent is held constant while language or communication style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5D20D-76C3-4CBE-B7BE-FD5948F3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F61BA-F415-490D-925F-BE398E28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BD052-094C-442D-941A-17FD05F2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FF0AE-95CF-4168-9E41-3F5C77F4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09850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77"/>
          </a:bodyPr>
          <a:lstStyle xmlns:a="http://schemas.openxmlformats.org/drawingml/2006/main"/>
          <a:p xmlns:a="http://schemas.openxmlformats.org/drawingml/2006/main">
            <a:pPr>
              <a:buNone/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Safety fairness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26E3A-A87E-4981-935A-9C68B723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7858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Do semantically equivalent benign requests receive different safety decisions across Indian languages and communication styles?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B69AD-F15A-4EA2-8D59-9C6E1463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76650"/>
            <a:ext cx="1228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A3582-8A5D-4EB5-9D21-E145432B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40E9E-A1E5-49EE-AEB6-55637353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77"/>
          </a:bodyPr>
          <a:lstStyle xmlns:a="http://schemas.openxmlformats.org/drawingml/2006/main"/>
          <a:p xmlns:a="http://schemas.openxmlformats.org/drawingml/2006/main">
            <a:pPr>
              <a:buNone/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Helpfulness parity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AE4B1-0C7C-4EF0-B5F8-997C9CC9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05275"/>
            <a:ext cx="7858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When a model answers, does response quality differ in correctness, completeness, actionability, tone, or language matching?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24123-C5E3-4029-A3E4-329B1066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62550"/>
            <a:ext cx="1228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48440-5665-4D71-A05C-08C7013D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492BA-83ED-4AC7-AB5C-0B3B0B9F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81650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77"/>
          </a:bodyPr>
          <a:lstStyle xmlns:a="http://schemas.openxmlformats.org/drawingml/2006/main"/>
          <a:p xmlns:a="http://schemas.openxmlformats.org/drawingml/2006/main">
            <a:pPr>
              <a:buNone/>
              <a:def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Linguistic drivers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2FD96-3E19-40FB-B5D2-54BD3991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91175"/>
            <a:ext cx="7858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Are observed differences associated with language, script, informality, Indian English phrasing, or Hindi-English code-switching?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D05E3-14AE-46B5-B70E-11CCF378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91375"/>
            <a:ext cx="141541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0E5E3"/>
          </a:solidFill>
          <a:ln xmlns:a="http://schemas.openxmlformats.org/drawingml/2006/main" w="13335">
            <a:solidFill>
              <a:srgbClr val="842F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99CB9-C12E-445F-BC47-E185EFE7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437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buNone/>
              <a:defRPr sz="135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Core comparison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A14694-4E78-4556-8B2A-7F2A1606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7296150"/>
            <a:ext cx="1109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buNone/>
              <a:defRPr sz="1725" b="0" i="0">
                <a:solidFill>
                  <a:srgbClr val="29272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72D"/>
                </a:solidFill>
                <a:latin typeface="Arial"/>
                <a:ea typeface="Arial"/>
                <a:cs typeface="Arial"/>
              </a:rPr>
              <a:t>Same source prompt  ×  ten language/style conditions  ×  OpenAI GPT, Gemini, and Llama</a:t>
            </a:r>
          </a:p>
        </p:txBody>
      </p:sp>
    </p:spTree>
    <p:extLst>
      <p:ext uri="{BB962C8B-B14F-4D97-AF65-F5344CB8AC3E}">
        <p14:creationId xmlns:p14="http://schemas.microsoft.com/office/powerpoint/2010/main" val="1909391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9FF89-2832-4833-83F7-B484BCCC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buNone/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A7CBB-E559-4668-AA0F-4C9D6541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Relevant literature covered so far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6BDA5-4ACE-4B1D-9070-E4B01016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Four studies define the over-refusal, multilingual-safety, and code-switching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DB26E-7F50-445A-B895-DBFCC51A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338FF-62D5-475E-A465-DE345294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9B752-EA59-43E3-9D59-63C8B12A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81387-C074-49BD-98CF-59802C0D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527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Röttger et al. · NAACL 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EA16A-2C85-4C44-B4F7-5441B897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575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buNone/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XSTest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5B11D-9335-4A95-832B-33049CA8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Introduces safe prompts that resemble unsafe requests and shows how models can display exaggerated safety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91047-68C8-4F69-AFFD-54DABC5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43300"/>
            <a:ext cx="1221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8BEA3-7C2F-4E4A-B4E2-3729BEB9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60288-AF8C-4109-AE7E-5FCB5B97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100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Cui et al. · 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650DF-6A2C-4D2D-BAFB-59CA3D46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148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buNone/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OR-Bench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03E9C-584D-4893-A744-1DA3E35C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290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Scales over-refusal measurement with seemingly toxic but benign prompts, plus harmful contrast prompts.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E83E2-5D97-47BF-9E71-427FA2D4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00600"/>
            <a:ext cx="1221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0169A-6C50-43C8-8096-A18AE573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D5960-D5E5-4BD4-A64D-F43712DD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673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Shen et al. · ACL Findings 2024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8869F-E27D-4072-9379-D9E7CD2C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721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buNone/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The Language Barrier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70757-AB18-41A7-BC98-68E099EC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863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Finds that safety behavior changes across languages, especially between higher-resource and lower-resource languages.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15A9C-8E8A-44D7-A05C-02E46943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57900"/>
            <a:ext cx="1221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2A6E7A-8396-495A-BE81-2D16CBC1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473C4-ADA0-4C1D-BC12-56E7B926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3246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Yoo et al. · ACL 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DD9E47-7A7A-44F9-AE85-1E966DAF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6294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8"/>
          </a:bodyPr>
          <a:lstStyle xmlns:a="http://schemas.openxmlformats.org/drawingml/2006/main"/>
          <a:p xmlns:a="http://schemas.openxmlformats.org/drawingml/2006/main">
            <a:pPr>
              <a:buNone/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Code-Switching Red-Teaming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EB54E-FE2B-4CE6-91F5-CD2ADD8A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3436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Shows that code-switching can weaken safeguards and connects multilingual understanding with safety evaluation.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83AA7B-8EBF-4096-929D-924838DF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343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Sources: Röttger et al. (2024), Cui et al. (2024), Shen et al. (2024), Yoo et al. (2025)</a:t>
            </a:r>
          </a:p>
        </p:txBody>
      </p:sp>
    </p:spTree>
    <p:extLst>
      <p:ext uri="{BB962C8B-B14F-4D97-AF65-F5344CB8AC3E}">
        <p14:creationId xmlns:p14="http://schemas.microsoft.com/office/powerpoint/2010/main" val="271950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7CBC11-E7C5-4643-98F4-E4466F60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buNone/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RESEARCH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81C05-FD34-4221-B417-0566C4E4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What the current literature leaves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FE635-2153-4B56-A876-0215C908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The proposed study shifts attention from attack success to equal access for ordinary multilingual users.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1C306-9FA1-4122-BEBD-3B5652F1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EFDDD-9062-472D-9B94-98E7E3D9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038C9-B21D-428C-903F-8F083EB1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Established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ED450-71F1-445A-B3E8-D5DDF27E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52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2F3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17529-EFB7-48E0-BDB9-5EEB7A9E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>
              <a:buNone/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26E37-D4CD-4BB2-857B-DEF7F4F3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19475"/>
            <a:ext cx="459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English benchmarks identify false refusals on benign prompts.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42D8B-61C4-46EB-ABD1-B240FB67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>
              <a:buNone/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9F3EC-F6DF-4FD7-B552-396198F7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05325"/>
            <a:ext cx="459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Multilingual studies find uneven safety behavior across languages.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A571E-4386-49A0-BAC3-8D29B72C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>
              <a:buNone/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EC9E1-7AE6-43F5-9672-F30C38AA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591175"/>
            <a:ext cx="459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Code-switching research mainly examines adversarial or jailbreak settings.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F12AC-91B0-4A89-8AA9-A5BEEA85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7981950" cy="4505325"/>
          </a:xfrm>
          <a:prstGeom xmlns:a="http://schemas.openxmlformats.org/drawingml/2006/main" prst="roundRect">
            <a:avLst>
              <a:gd name="adj" fmla="val 1691"/>
            </a:avLst>
          </a:prstGeom>
          <a:solidFill xmlns:a="http://schemas.openxmlformats.org/drawingml/2006/main">
            <a:srgbClr val="2D2A3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DED53-C340-40A7-BA50-F675589B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9622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C9973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9734"/>
                </a:solidFill>
                <a:latin typeface="Arial"/>
                <a:ea typeface="Arial"/>
                <a:cs typeface="Arial"/>
              </a:rPr>
              <a:t>OPEN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336BF-9126-4FFD-A7B2-8B868904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62325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>
              <a:buNone/>
              <a:def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A paired Indian-language</a:t>
            </a:r>
          </a:p>
          <a:p xmlns:a="http://schemas.openxmlformats.org/drawingml/2006/main">
            <a:pPr>
              <a:buNone/>
              <a:def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false-refusal 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54439-C067-41DF-91ED-548B99D4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467225"/>
            <a:ext cx="657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0C738-2B04-44FC-99DB-F2FD3D5E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720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buNone/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D7547-E293-4853-948F-DD57F908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7244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Limited matched evaluation of benign prompts across several Indian languages and everyday styles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4D3E79-4FBC-48AA-807D-5C5C3D7C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2959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buNone/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15C70E-C710-4A93-A676-4EAEC7B6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24827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Language and communication style often remain mixed together rather than measured separately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44F07C-4C57-4D24-8789-50C4DF53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8197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buNone/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244E6A-11DF-439D-9D7B-8BF380CB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7721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Refusal rate alone misses answer quality, tone, language matching, and clarification behavior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1EC2F-FB55-4987-8DFD-E64DF988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buNone/>
              <a:def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E28114-3672-4CE1-8560-A9E1917F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629602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Few public datasets pair human-validated variants with responses from both closed and open model families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76F94F-B17B-466D-BA4A-DE560F00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67"/>
          </a:bodyPr>
          <a:lstStyle xmlns:a="http://schemas.openxmlformats.org/drawingml/2006/main"/>
          <a:p xmlns:a="http://schemas.openxmlformats.org/drawingml/2006/main">
            <a:pPr>
              <a:buNone/>
              <a:defRPr sz="17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Proposed contribution: a human-validated dataset of semantically equivalent prompts and model responses across ten conditions.</a:t>
            </a:r>
          </a:p>
        </p:txBody>
      </p:sp>
    </p:spTree>
    <p:extLst>
      <p:ext uri="{BB962C8B-B14F-4D97-AF65-F5344CB8AC3E}">
        <p14:creationId xmlns:p14="http://schemas.microsoft.com/office/powerpoint/2010/main" val="950298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7627FC-C695-4F6D-B1D5-4BD73232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buNone/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CURRENT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B1F0D-8745-40ED-8CB0-1A405C8C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Pilot dataset and evaluation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62F5A-DAFF-4F4A-A0E2-99F228CD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The current phase builds the paired dataset and prepares controlled API collection.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04065-66C0-48A9-B212-22269174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28A12-B8F3-41A8-9079-D498E695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4BF2D-A4E0-48EC-A74A-310F578D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143250" cy="319087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014BF-7436-4705-8CF9-FE8C0675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85"/>
          </a:bodyPr>
          <a:lstStyle xmlns:a="http://schemas.openxmlformats.org/drawingml/2006/main"/>
          <a:p xmlns:a="http://schemas.openxmlformats.org/drawingml/2006/main">
            <a:pPr>
              <a:buNone/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A4353-FA2E-45C4-9582-A5F23930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Source 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1D179-5F74-48F6-88F5-FE978F1A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Six canonical English prompts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Four benign, safety-adjacent requests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Two prompts that should be refused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AC8DB-01BC-4DE2-9FD9-5D427E80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71750"/>
            <a:ext cx="3143250" cy="319087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F98BA-455E-4AAC-B1A8-1C37687E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76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85"/>
          </a:bodyPr>
          <a:lstStyle xmlns:a="http://schemas.openxmlformats.org/drawingml/2006/main"/>
          <a:p xmlns:a="http://schemas.openxmlformats.org/drawingml/2006/main">
            <a:pPr>
              <a:buNone/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490F6-7A96-4936-AA1B-18FE8972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Ten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DC433-7547-4FB7-A728-BBFB769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719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Standard, Indian, and informal English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Hindi and Hinglish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Gujarati, Punjabi, Bengali, Marathi, Kannada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55A3D-3C12-423F-BE9A-82CE2319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3143250" cy="319087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F26FD-C616-439F-9A59-EBE565A1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76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85"/>
          </a:bodyPr>
          <a:lstStyle xmlns:a="http://schemas.openxmlformats.org/drawingml/2006/main"/>
          <a:p xmlns:a="http://schemas.openxmlformats.org/drawingml/2006/main">
            <a:pPr>
              <a:buNone/>
              <a:def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42F3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4F844-55A3-4076-92D7-CF05041F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Translation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62A6F-F977-4C20-8E63-8FFD3309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Google Translate API for six languages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Human writing or review for Indian English, informal English, and Hinglish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8A1DC-BD5F-4DAD-BAA8-53006750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571750"/>
            <a:ext cx="3143250" cy="319087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2D2A3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97A26-7CEB-4243-B95D-0BE38716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2876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385"/>
          </a:bodyPr>
          <a:lstStyle xmlns:a="http://schemas.openxmlformats.org/drawingml/2006/main"/>
          <a:p xmlns:a="http://schemas.openxmlformats.org/drawingml/2006/main">
            <a:pPr>
              <a:buNone/>
              <a:defRPr sz="1950" b="1" i="0">
                <a:solidFill>
                  <a:srgbClr val="C99734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C99734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6E26E6-7269-477A-90BE-D50301A0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Model responses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2BD28-578B-4814-B399-B77854F2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1719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OpenAI GPT, Gemini, and Llama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E9E1E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9E1E0"/>
                </a:solidFill>
                <a:latin typeface="Arial"/>
                <a:ea typeface="Arial"/>
                <a:cs typeface="Arial"/>
              </a:rPr>
              <a:t>Exact model versions will be fixed before collection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97C45-5B08-4F11-B392-4B10DBD2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79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Work completed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78D9C9-7464-4CB2-9896-B007185A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1352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6F78"/>
                </a:solidFill>
                <a:latin typeface="Arial"/>
                <a:ea typeface="Arial"/>
                <a:cs typeface="Arial"/>
              </a:rPr>
              <a:t>Source CSV with six prompts  ·  translation script  ·  API response collector  ·  annotation-ready output structure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FD3633-8052-42EB-8348-864D2E30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0"/>
            <a:ext cx="141541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842F3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37270-408B-4C5B-AB22-505E53C6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009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buNone/>
              <a:defRPr sz="1350" b="1" i="0">
                <a:solidFill>
                  <a:srgbClr val="F8EC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8ECEB"/>
                </a:solidFill>
                <a:latin typeface="Arial"/>
                <a:ea typeface="Arial"/>
                <a:cs typeface="Arial"/>
              </a:rPr>
              <a:t>Next milestone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CB4752-93EE-496A-962C-17F7AB0F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7343775"/>
            <a:ext cx="11191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75"/>
          </a:bodyPr>
          <a:lstStyle xmlns:a="http://schemas.openxmlformats.org/drawingml/2006/main"/>
          <a:p xmlns:a="http://schemas.openxmlformats.org/drawingml/2006/main">
            <a:pPr>
              <a:buNone/>
              <a:defRPr sz="172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FEFB"/>
                </a:solidFill>
                <a:latin typeface="Arial"/>
                <a:ea typeface="Arial"/>
                <a:cs typeface="Arial"/>
              </a:rPr>
              <a:t>Finalize model versions, validate all 60 prompt variants, then collect 180 responses in the first run</a:t>
            </a:r>
          </a:p>
        </p:txBody>
      </p:sp>
    </p:spTree>
    <p:extLst>
      <p:ext uri="{BB962C8B-B14F-4D97-AF65-F5344CB8AC3E}">
        <p14:creationId xmlns:p14="http://schemas.microsoft.com/office/powerpoint/2010/main" val="4940350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76167-4A83-4FBA-9D76-A84BE55D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>
            <a:def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IMPLEMENTATION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AF8B9-A97A-4FC5-901C-E25CCBBB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29272D"/>
                </a:solidFill>
                <a:latin typeface="Georgia"/>
                <a:ea typeface="Georgia"/>
                <a:cs typeface="Georgia"/>
              </a:rPr>
              <a:t>API budget for one full research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5FD8C-4A53-4A4C-AE78-A933A226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60 source prompts produce 600 language and style variants and 1,800 model responses.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F7E07-FBA7-4B68-823E-468FCB94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1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>
            <a:def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Computational Social Science  · 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5710F-9E07-415D-9474-E2F7FF37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8115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>
            <a:def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AAA49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E39B3-B2AD-49E8-A7B4-930E57DE6DA7}"/>
              </a:ext>
            </a:extLst>
          </p:cNvPr>
          <p:cNvGraphicFramePr/>
          <p:nvPr/>
        </p:nvGraphicFramePr>
        <p:xfrm>
          <a:off xmlns:a="http://schemas.openxmlformats.org/drawingml/2006/main" x="552450" y="2362200"/>
          <a:ext xmlns:a="http://schemas.openxmlformats.org/drawingml/2006/main" cx="1415415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2857500"/>
                <a:gridCol w="2857500"/>
                <a:gridCol w="3905250"/>
                <a:gridCol w="2152650"/>
              </a:tblGrid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API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8D0C5"/>
                      </a:solidFill>
                      <a:prstDash val="soli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T w="9525">
                      <a:solidFill>
                        <a:srgbClr val="D8D0C5"/>
                      </a:solidFill>
                      <a:prstDash val="soli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2D2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T w="9525">
                      <a:solidFill>
                        <a:srgbClr val="D8D0C5"/>
                      </a:solidFill>
                      <a:prstDash val="soli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2D2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Planned volume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T w="9525">
                      <a:solidFill>
                        <a:srgbClr val="D8D0C5"/>
                      </a:solidFill>
                      <a:prstDash val="soli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2D2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Published rate or free tier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T w="9525">
                      <a:solidFill>
                        <a:srgbClr val="D8D0C5"/>
                      </a:solidFill>
                      <a:prstDash val="soli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2D2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EFB"/>
                          </a:solidFill>
                          <a:latin typeface="Arial"/>
                          <a:ea typeface="Arial"/>
                          <a:cs typeface="Arial"/>
                        </a:rPr>
                        <a:t>Estimated run cost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T w="9525">
                      <a:solidFill>
                        <a:srgbClr val="D8D0C5"/>
                      </a:solidFill>
                      <a:prstDash val="solid"/>
                    </a:lnT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2D2A3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9272D"/>
                          </a:solidFill>
                          <a:latin typeface="Georgia"/>
                          <a:ea typeface="Georgia"/>
                          <a:cs typeface="Georgia"/>
                        </a:rPr>
                        <a:t>Google Cloud Translation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8D0C5"/>
                      </a:solidFill>
                      <a:prstDash val="soli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Six native-language versions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360 translations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≈54K characters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First 500K characters/month free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Then $20 per 1M characters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$0 free</a:t>
                      </a:r>
                    </a:p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$1.08 paid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0E5E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9272D"/>
                          </a:solidFill>
                          <a:latin typeface="Georgia"/>
                          <a:ea typeface="Georgia"/>
                          <a:cs typeface="Georgia"/>
                        </a:rPr>
                        <a:t>OpenAI GPT-6 Luna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8D0C5"/>
                      </a:solidFill>
                      <a:prstDash val="soli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OpenAI response collection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600 responses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72K input + ≤240K output tokens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$0.10 per 1M input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$0.50 per 1M output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≤$0.13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0E5E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9272D"/>
                          </a:solidFill>
                          <a:latin typeface="Georgia"/>
                          <a:ea typeface="Georgia"/>
                          <a:cs typeface="Georgia"/>
                        </a:rPr>
                        <a:t>Gemini 3.1 Flash-Lite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8D0C5"/>
                      </a:solidFill>
                      <a:prstDash val="soli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Gemini response collection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600 responses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Same token ceiling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Free tier available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Paid: $0.25 input / $1.50 output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$0 free</a:t>
                      </a:r>
                    </a:p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≤$0.38 paid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0E5E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9272D"/>
                          </a:solidFill>
                          <a:latin typeface="Georgia"/>
                          <a:ea typeface="Georgia"/>
                          <a:cs typeface="Georgia"/>
                        </a:rPr>
                        <a:t>Groq GPT-OSS 20B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8D0C5"/>
                      </a:solidFill>
                      <a:prstDash val="solid"/>
                    </a:lnL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Free open-weight comparison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600 responses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Run across at least two days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Free: 1K requests/day, 200K tokens/day</a:t>
                      </a:r>
                    </a:p>
                    <a:p>
                      <a:r>
                        <a:rPr sz="1125">
                          <a:solidFill>
                            <a:srgbClr val="29272D"/>
                          </a:solidFill>
                          <a:latin typeface="Arial"/>
                          <a:ea typeface="Arial"/>
                          <a:cs typeface="Arial"/>
                        </a:rPr>
                        <a:t>Paid: $0.075 input / $0.30 output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$0 free</a:t>
                      </a:r>
                    </a:p>
                    <a:p>
                      <a:r>
                        <a:rPr sz="1200" b="1">
                          <a:solidFill>
                            <a:srgbClr val="842F3B"/>
                          </a:solidFill>
                          <a:latin typeface="Arial"/>
                          <a:ea typeface="Arial"/>
                          <a:cs typeface="Arial"/>
                        </a:rPr>
                        <a:t>≤$0.08 paid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8D0C5"/>
                      </a:solidFill>
                      <a:prstDash val="solid"/>
                    </a:lnR>
                    <a:lnB w="9525">
                      <a:solidFill>
                        <a:srgbClr val="D8D0C5"/>
                      </a:solidFill>
                      <a:prstDash val="solid"/>
                    </a:lnB>
                    <a:solidFill>
                      <a:srgbClr val="F0E5E3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8CB1B-E111-4487-BCD7-A11636F9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41541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842F3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6F7BD-8D7A-4791-B741-81DEAC96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05600"/>
            <a:ext cx="309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>
            <a:def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4D9D7"/>
                </a:solidFill>
                <a:latin typeface="Arial"/>
                <a:ea typeface="Arial"/>
                <a:cs typeface="Arial"/>
              </a:rPr>
              <a:t>RECOMMENDED AUTHORIZATION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78573-836F-4378-A98B-71034794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62775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79"/>
          </a:bodyPr>
          <a:lstStyle xmlns:a="http://schemas.openxmlformats.org/drawingml/2006/main">
            <a:def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₹1,000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ACB28-EF61-4E39-B287-DC1E38C7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753225"/>
            <a:ext cx="19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7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DE0C4-548E-45CF-8921-B92D388B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7151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>
            <a:def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4D9D7"/>
                </a:solidFill>
                <a:latin typeface="Arial"/>
                <a:ea typeface="Arial"/>
                <a:cs typeface="Arial"/>
              </a:rPr>
              <a:t>One full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92374-00B8-4EFE-8E05-EA2B9E3E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000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EFB"/>
                </a:solidFill>
                <a:latin typeface="Arial"/>
                <a:ea typeface="Arial"/>
                <a:cs typeface="Arial"/>
              </a:rPr>
              <a:t>≤$0.13 with free tiers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44505-E52C-4124-B5B1-A35C6A2D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53225"/>
            <a:ext cx="19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7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D89FC-9B68-4450-B2C3-256E2780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7151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>
            <a:def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F4D9D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4D9D7"/>
                </a:solidFill>
                <a:latin typeface="Arial"/>
                <a:ea typeface="Arial"/>
                <a:cs typeface="Arial"/>
              </a:rPr>
              <a:t>Conservative paid equivalent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1096E-2F5E-41D1-93D9-A1250EC4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000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EFB"/>
                </a:solidFill>
                <a:latin typeface="Arial"/>
                <a:ea typeface="Arial"/>
                <a:cs typeface="Arial"/>
              </a:rPr>
              <a:t>≤$1.67 per 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EF680-1D5E-4CDC-8322-FB02BCF1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246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>
            <a:def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EFB"/>
                </a:solidFill>
                <a:latin typeface="Arial"/>
                <a:ea typeface="Arial"/>
                <a:cs typeface="Arial"/>
              </a:rPr>
              <a:t>Covers the $5 OpenAI minimum credit purchase, taxes, retries, and several full reruns.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02EB4-6B1A-41E5-B78B-3E02B6D3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81925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>
            <a:def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 i="1">
                <a:solidFill>
                  <a:srgbClr val="746F78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746F78"/>
                </a:solidFill>
                <a:latin typeface="Arial"/>
                <a:ea typeface="Arial"/>
                <a:cs typeface="Arial"/>
              </a:rPr>
              <a:t>Pricing checked 13 Oct 2026. Assumes ≤120 input tokens and a 400-token output cap per response; ₹96 per US$1.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EF5DE-94B2-4282-BC7A-2A8FFCEB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7438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>
            <a:def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842F3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2F3B"/>
                </a:solidFill>
                <a:latin typeface="Arial"/>
                <a:ea typeface="Arial"/>
                <a:cs typeface="Arial"/>
              </a:rPr>
              <a:t>Groq’s free generative option is GPT-OSS 20B, not Llama; a paid Llama endpoint needs a revised estimate.</a:t>
            </a:r>
          </a:p>
        </p:txBody>
      </p:sp>
    </p:spTree>
    <p:extLst>
      <p:ext uri="{BB962C8B-B14F-4D97-AF65-F5344CB8AC3E}">
        <p14:creationId xmlns:p14="http://schemas.microsoft.com/office/powerpoint/2010/main" val="2458337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2026-10-13T05:20:16.7670000Z</dcterms:created>
  <dcterms:modified xsi:type="dcterms:W3CDTF">2026-10-13T05:20:16.7670000Z</dcterms:modified>
</coreProperties>
</file>