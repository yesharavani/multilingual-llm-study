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f60d7596e54037" /><Relationship Type="http://schemas.openxmlformats.org/officeDocument/2006/relationships/extended-properties" Target="/docProps/app.xml" Id="R5f6af7f5f76b4d5f" /><Relationship Type="http://schemas.openxmlformats.org/officeDocument/2006/relationships/officeDocument" Target="/ppt/presentation.xml" Id="R4552abd0e6834a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5b6fbc79ea41a8"/>
  </p:sldMasterIdLst>
  <p:notesMasterIdLst>
    <p:notesMasterId xmlns:r="http://schemas.openxmlformats.org/officeDocument/2006/relationships" r:id="R0c96d1cc3ec14d5a"/>
  </p:notesMasterIdLst>
  <p:sldIdLst>
    <p:sldId xmlns:r="http://schemas.openxmlformats.org/officeDocument/2006/relationships" id="256" r:id="R4ac62d93e3fa4322"/>
    <p:sldId xmlns:r="http://schemas.openxmlformats.org/officeDocument/2006/relationships" id="257" r:id="R9dff11803bb84edd"/>
    <p:sldId xmlns:r="http://schemas.openxmlformats.org/officeDocument/2006/relationships" id="258" r:id="R28b9837b7a334e3c"/>
    <p:sldId xmlns:r="http://schemas.openxmlformats.org/officeDocument/2006/relationships" id="259" r:id="Rbda734fe1bfb40f9"/>
    <p:sldId xmlns:r="http://schemas.openxmlformats.org/officeDocument/2006/relationships" id="260" r:id="R14fa7ce32a5a478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e8d1d276944063" /><Relationship Type="http://schemas.openxmlformats.org/officeDocument/2006/relationships/slideMaster" Target="/ppt/slideMasters/slideMaster1.xml" Id="R2a5b6fbc79ea41a8" /><Relationship Type="http://schemas.openxmlformats.org/officeDocument/2006/relationships/notesMaster" Target="/ppt/notesMasters/notesMaster1.xml" Id="R0c96d1cc3ec14d5a" /><Relationship Type="http://schemas.openxmlformats.org/officeDocument/2006/relationships/presProps" Target="/ppt/presProps.xml" Id="Rce759e226dea4276" /><Relationship Type="http://schemas.openxmlformats.org/officeDocument/2006/relationships/tableStyles" Target="/ppt/tableStyles.xml" Id="R360ff80b63bb4a19" /><Relationship Type="http://schemas.openxmlformats.org/officeDocument/2006/relationships/slide" Target="/ppt/slides/slide1.xml" Id="R4ac62d93e3fa4322" /><Relationship Type="http://schemas.openxmlformats.org/officeDocument/2006/relationships/slide" Target="/ppt/slides/slide2.xml" Id="R9dff11803bb84edd" /><Relationship Type="http://schemas.openxmlformats.org/officeDocument/2006/relationships/slide" Target="/ppt/slides/slide3.xml" Id="R28b9837b7a334e3c" /><Relationship Type="http://schemas.openxmlformats.org/officeDocument/2006/relationships/slide" Target="/ppt/slides/slide4.xml" Id="Rbda734fe1bfb40f9" /><Relationship Type="http://schemas.openxmlformats.org/officeDocument/2006/relationships/slide" Target="/ppt/slides/slide5.xml" Id="R14fa7ce32a5a47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aeff2efb4242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c58fa393f74a01" /><Relationship Type="http://schemas.openxmlformats.org/officeDocument/2006/relationships/notesMaster" Target="/ppt/notesMasters/notesMaster1.xml" Id="Red38d16db3c946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52de090a224fa9" /><Relationship Type="http://schemas.openxmlformats.org/officeDocument/2006/relationships/notesMaster" Target="/ppt/notesMasters/notesMaster1.xml" Id="R1038c27cb1fe40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39e82b5eec4886" /><Relationship Type="http://schemas.openxmlformats.org/officeDocument/2006/relationships/notesMaster" Target="/ppt/notesMasters/notesMaster1.xml" Id="R9f852b5242274d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e7ece0c1ef44fe" /><Relationship Type="http://schemas.openxmlformats.org/officeDocument/2006/relationships/notesMaster" Target="/ppt/notesMasters/notesMaster1.xml" Id="R2ad8e71d60b248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3f97840a834abf" /><Relationship Type="http://schemas.openxmlformats.org/officeDocument/2006/relationships/notesMaster" Target="/ppt/notesMasters/notesMaster1.xml" Id="R53d0695d089346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slide. Replace the displayed name if the formal submission requires a different full name or group-member 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questions finalized during project development.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XSTest: https://aclanthology.org/2024.naacl-long.301/</a:t>
            </a:r>
          </a:p>
          <a:p xmlns:a="http://schemas.openxmlformats.org/drawingml/2006/main">
            <a:r>
              <a:t>OR-Bench: https://arxiv.org/abs/2405.20947</a:t>
            </a:r>
          </a:p>
          <a:p xmlns:a="http://schemas.openxmlformats.org/drawingml/2006/main">
            <a:r>
              <a:t>The Language Barrier: https://aclanthology.org/2024.findings-acl.156/</a:t>
            </a:r>
          </a:p>
          <a:p xmlns:a="http://schemas.openxmlformats.org/drawingml/2006/main">
            <a:r>
              <a:t>Code-Switching Red-Teaming: https://aclanthology.org/2025.acl-long.657/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Gap synthesis based on:</a:t>
            </a:r>
          </a:p>
          <a:p xmlns:a="http://schemas.openxmlformats.org/drawingml/2006/main">
            <a:r>
              <a:t>https://aclanthology.org/2024.naacl-long.301/</a:t>
            </a:r>
          </a:p>
          <a:p xmlns:a="http://schemas.openxmlformats.org/drawingml/2006/main">
            <a:r>
              <a:t>https://arxiv.org/abs/2405.20947</a:t>
            </a:r>
          </a:p>
          <a:p xmlns:a="http://schemas.openxmlformats.org/drawingml/2006/main">
            <a:r>
              <a:t>https://aclanthology.org/2024.findings-acl.156/</a:t>
            </a:r>
          </a:p>
          <a:p xmlns:a="http://schemas.openxmlformats.org/drawingml/2006/main">
            <a:r>
              <a:t>https://aclanthology.org/2025.acl-long.657/</a:t>
            </a:r>
          </a:p>
          <a:p xmlns:a="http://schemas.openxmlformats.org/drawingml/2006/main">
            <a:r>
              <a:t>The gap statements are scoped claims from this initial literature review, not claims that no related work exists.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status reflects files implemented in the workspace. One run yields 6 prompts × 10 conditions × 3 model families = 180 responses.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37654aef094b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5d6e64ee1a495e" /><Relationship Type="http://schemas.openxmlformats.org/officeDocument/2006/relationships/slideLayout" Target="/ppt/slideLayouts/slideLayout1.xml" Id="Rb32ceba02a7248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2ceba02a7248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53a086a0f45a0" /><Relationship Type="http://schemas.openxmlformats.org/officeDocument/2006/relationships/notesSlide" Target="/ppt/notesSlides/notesSlide1.xml" Id="Rc1998b22e97c4f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fe3a4ef564ef0" /><Relationship Type="http://schemas.openxmlformats.org/officeDocument/2006/relationships/notesSlide" Target="/ppt/notesSlides/notesSlide2.xml" Id="R9f66eceadc2143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fece2225d476b" /><Relationship Type="http://schemas.openxmlformats.org/officeDocument/2006/relationships/notesSlide" Target="/ppt/notesSlides/notesSlide3.xml" Id="R0a227260f6d145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2d7ea20444974" /><Relationship Type="http://schemas.openxmlformats.org/officeDocument/2006/relationships/notesSlide" Target="/ppt/notesSlides/notesSlide4.xml" Id="R9079042be5ce4f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46aca38974e39" /><Relationship Type="http://schemas.openxmlformats.org/officeDocument/2006/relationships/notesSlide" Target="/ppt/notesSlides/notesSlide5.xml" Id="R45132f0e407442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1D01B1-4ECB-4BD4-B345-6D831E62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2F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F92C3-D25B-40F9-BADF-7BABD8C6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RESEARCH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560FB-6E37-469E-A82A-128FB3F8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95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495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Multilingual Safety</a:t>
            </a:r>
          </a:p>
          <a:p xmlns:a="http://schemas.openxmlformats.org/drawingml/2006/main">
            <a:pPr>
              <a:defRPr sz="495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495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Fairness in LLMs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DD89C-CEDE-4994-AEAF-93D35392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962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29"/>
          </a:bodyPr>
          <a:lstStyle xmlns:a="http://schemas.openxmlformats.org/drawingml/2006/main"/>
          <a:p xmlns:a="http://schemas.openxmlformats.org/drawingml/2006/main">
            <a:pPr>
              <a:defRPr sz="21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2175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A paired audit of safety decisions and helpfulness across Indian languages and communication styles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4B130-F84F-4B91-8C93-AC98FB00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76300"/>
            <a:ext cx="3333750" cy="61912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2D2A3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21264-0A1A-4A7F-913A-F66EEA47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13239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9734"/>
                </a:solidFill>
                <a:latin typeface="Arial"/>
                <a:ea typeface="Arial"/>
                <a:cs typeface="Arial"/>
              </a:rPr>
              <a:t>PROJECT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DCBCF-4619-463A-9B88-80569986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1857375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92"/>
          </a:bodyPr>
          <a:lstStyle xmlns:a="http://schemas.openxmlformats.org/drawingml/2006/main"/>
          <a:p xmlns:a="http://schemas.openxmlformats.org/drawingml/2006/main">
            <a:pPr>
              <a:defRPr sz="487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487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380DA-AA49-4C21-A200-340CD09D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609850"/>
            <a:ext cx="2266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E7DFD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E7DFDE"/>
                </a:solidFill>
                <a:latin typeface="Arial"/>
                <a:ea typeface="Arial"/>
                <a:cs typeface="Arial"/>
              </a:rPr>
              <a:t>language and style</a:t>
            </a:r>
          </a:p>
          <a:p xmlns:a="http://schemas.openxmlformats.org/drawingml/2006/main">
            <a:pPr>
              <a:defRPr sz="1650" b="0" i="0">
                <a:solidFill>
                  <a:srgbClr val="E7DFD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E7DFDE"/>
                </a:solidFill>
                <a:latin typeface="Arial"/>
                <a:ea typeface="Arial"/>
                <a:cs typeface="Arial"/>
              </a:rPr>
              <a:t>conditions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AC835-1EEB-4748-8FBA-F913D2E5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3552825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3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5D72E1-0F3C-486A-A53B-EBCB4155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3895725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889"/>
          </a:bodyPr>
          <a:lstStyle xmlns:a="http://schemas.openxmlformats.org/drawingml/2006/main"/>
          <a:p xmlns:a="http://schemas.openxmlformats.org/drawingml/2006/main">
            <a:pPr>
              <a:defRPr sz="450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4500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F3894A-03DE-4683-982D-7DC80C7E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45815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E7DFD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E7DFDE"/>
                </a:solidFill>
                <a:latin typeface="Arial"/>
                <a:ea typeface="Arial"/>
                <a:cs typeface="Arial"/>
              </a:rPr>
              <a:t>LLM families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B3A2E-E549-46BF-A678-FCF37702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5248275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3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4BCEF9-20BB-4153-8C11-768978F6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55911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9734"/>
                </a:solidFill>
                <a:latin typeface="Arial"/>
                <a:ea typeface="Arial"/>
                <a:cs typeface="Arial"/>
              </a:rPr>
              <a:t>Primary outcome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D0EC7-86C3-430D-BCB9-3973CA30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5915025"/>
            <a:ext cx="2333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47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False-refusal</a:t>
            </a:r>
          </a:p>
          <a:p xmlns:a="http://schemas.openxmlformats.org/drawingml/2006/main">
            <a:pPr>
              <a:defRPr sz="23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gap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FAB527-4EE4-47B1-AF46-8C3D0C69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857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2F3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051016-D09A-4154-9DEC-53785FAD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Prepared by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23E93F-AB75-4C64-B85C-F0531667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Yesharavani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23A5D3-EF53-4FDF-ABB5-B9F61C48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627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Project proposal submission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162FD0-5A6D-4ACA-9D1B-29DC54E9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153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Computational Social Science  ·  Research Project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C2217A-31A2-4303-B995-9889F31B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8115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792678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E9D38-9630-41F0-B218-CBF3228C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PROJECT FRAMING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12196-7873-4552-9516-BE29AA28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8675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Research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8F3CE-ADA2-4757-98B6-057F7748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352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Equivalent intent is held constant while language or communication style changes.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089B9-159F-4E62-AC6B-DC2BD114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153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Computational Social Science  ·  Research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E6A82-49AF-4566-BFD7-D6BD4509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8115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9182B6-F3B9-4875-B82C-D6D0848A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80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775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BDD8B-A026-4A08-A5F4-055651F6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09850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977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Safety fairness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DBAB8-4056-42BA-8CB3-03C2AB53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7858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Do semantically equivalent benign requests receive different safety decisions across Indian languages and communication styles?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E470C3-7940-45B3-A037-3FB41236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76650"/>
            <a:ext cx="1228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DC4E0E-0EB5-4E25-8B38-6BFFA0CA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80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775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4515E-E254-4FEE-A9C9-63F91D40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977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Helpfulness parity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45C4D-9B50-47A1-A232-214DEA0D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05275"/>
            <a:ext cx="7858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When a model answers, does response quality differ in correctness, completeness, actionability, tone, or language matching?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83DF60-FEFE-4A38-B6C0-7C32480C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62550"/>
            <a:ext cx="1228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F2C4A4-3816-4065-9A9F-3D0A3751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00700"/>
            <a:ext cx="80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775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79AA32-4468-4381-8D3D-DD2A1EB2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81650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977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Linguistic drivers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D0B35-9043-49F8-8171-F3A1DE57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91175"/>
            <a:ext cx="7858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Are observed differences associated with language, script, informality, Indian English phrasing, or Hindi-English code-switching?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C98ACC-E4A9-44A9-9B79-DE9FFAB8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91375"/>
            <a:ext cx="1415415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0E5E3"/>
          </a:solidFill>
          <a:ln xmlns:a="http://schemas.openxmlformats.org/drawingml/2006/main" w="13335">
            <a:solidFill>
              <a:srgbClr val="842F3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49FB62-79A6-4F11-9D70-56FC1AAD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3437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Core comparison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402F66-41E8-424F-834B-12118BA0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7296150"/>
            <a:ext cx="11096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9272D"/>
                </a:solidFill>
                <a:latin typeface="Arial"/>
                <a:ea typeface="Arial"/>
                <a:cs typeface="Arial"/>
              </a:rPr>
              <a:t>Same source prompt  ×  ten language/style conditions  ×  OpenAI GPT, Gemini, and Llama</a:t>
            </a:r>
          </a:p>
        </p:txBody>
      </p:sp>
    </p:spTree>
    <p:extLst>
      <p:ext uri="{BB962C8B-B14F-4D97-AF65-F5344CB8AC3E}">
        <p14:creationId xmlns:p14="http://schemas.microsoft.com/office/powerpoint/2010/main" val="15890432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48C647-BE9E-432F-850C-5D9DF9EA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LITERATURE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1B963-FFD3-4B61-92E2-58CB36F3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8675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Relevant literature covered so far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A995B-7A3F-4127-95D5-3CED3C26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352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Four studies define the over-refusal, multilingual-safety, and code-switching context.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E091B-9AD5-42D0-8362-1CDF9F1A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153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Computational Social Science  ·  Research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F7734-16FF-4DF0-8A63-1F99304B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8115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6A735-5D82-4DC7-AD78-676222C5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13471-F15C-4FF9-9D13-9CC8DAA2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52700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Röttger et al. · NAACL 2024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4F77A-FDBC-4432-9210-DD609C44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5750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XSTest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18489-0E05-4824-A6FD-C93010F2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845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Introduces safe prompts that resemble unsafe requests and shows how models can display exaggerated safety behavior.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8F219-CCC3-4C92-950F-27A9ADE8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43300"/>
            <a:ext cx="1221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CC92E-F2A4-4686-9F37-A54955A7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CA5CCC-8616-4336-A74A-BABD2068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10000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Cui et al. · 2024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5BA42-2F19-425C-9166-671FF393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1480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OR-Bench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89E15B-E846-45B7-8F5E-4E369E42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29050"/>
            <a:ext cx="845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Scales over-refusal measurement with seemingly toxic but benign prompts, plus harmful contrast prompts.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933F08-88FE-4805-99E7-AE87892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00600"/>
            <a:ext cx="1221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828650-0EFD-4570-B22D-CD760213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A82FD8-295B-4180-91F3-DB0D58D1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67300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Shen et al. · ACL Findings 2024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4EA871-2728-4EE9-93CF-C445EB47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37210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The Language Barrier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08E279-B0C8-4880-8A69-3AF03899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086350"/>
            <a:ext cx="845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Finds that safety behavior changes across languages, especially between higher-resource and lower-resource languages.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84777A-411B-48D7-B845-539CBD3E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057900"/>
            <a:ext cx="1221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4417FE-EAB8-4693-A5F7-1AB7499D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D5A8E8-2220-4A29-96A3-D60422D7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324600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Yoo et al. · ACL 2025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763E80-BF30-4C65-B19D-DBA463D2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62940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168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Code-Switching Red-Teaming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A77D43-3BB5-480D-9B22-25764530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343650"/>
            <a:ext cx="845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Shows that code-switching can weaken safeguards and connects multilingual understanding with safety evaluation.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BED403-A93C-4E12-83D8-E0257F1B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43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Sources: Röttger et al. (2024), Cui et al. (2024), Shen et al. (2024), Yoo et al. (2025)</a:t>
            </a:r>
          </a:p>
        </p:txBody>
      </p:sp>
    </p:spTree>
    <p:extLst>
      <p:ext uri="{BB962C8B-B14F-4D97-AF65-F5344CB8AC3E}">
        <p14:creationId xmlns:p14="http://schemas.microsoft.com/office/powerpoint/2010/main" val="6653588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B55FD1-29F9-4E96-9571-9BE39D76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RESEARCH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17C2A-F874-4D3E-AF5C-589D78A4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8675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What the current literature leaves open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62ED6-1EC6-4CFB-8C1E-8082AD27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352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The proposed study shifts attention from attack success to equal access for ordinary multilingual users.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66FE0-110C-4F3B-A672-B8A81935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153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Computational Social Science  ·  Research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E2E00-EE81-4A14-8BD6-531196FC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8115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A5998-5768-4EF1-A297-B26DA3AD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889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Established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A4A38-F837-45CF-8F60-7019B64B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52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2F3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446BA0-8A30-44E2-84BA-14754EFB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10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85DAE5-49E0-49E7-BE6D-C6BC749B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419475"/>
            <a:ext cx="459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English benchmarks identify false refusals on benign prompts.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D1829E-3166-48A5-94EF-D4B18190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10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1A0D1-1690-46C1-9DFE-42263604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505325"/>
            <a:ext cx="459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Multilingual studies find uneven safety behavior across languages.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68A7E3-B4E9-485E-A5B7-29E1092C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48325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10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B0BAD-8BED-48A7-B3F8-2432F99A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591175"/>
            <a:ext cx="459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Code-switching research mainly examines adversarial or jailbreak settings.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292182-9948-46C5-82CE-B461E5F3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71750"/>
            <a:ext cx="7981950" cy="4505325"/>
          </a:xfrm>
          <a:prstGeom xmlns:a="http://schemas.openxmlformats.org/drawingml/2006/main" prst="roundRect">
            <a:avLst>
              <a:gd name="adj" fmla="val 1691"/>
            </a:avLst>
          </a:prstGeom>
          <a:solidFill xmlns:a="http://schemas.openxmlformats.org/drawingml/2006/main">
            <a:srgbClr val="2D2A3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263091-7CD4-499D-971E-5B41F113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9622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9734"/>
                </a:solidFill>
                <a:latin typeface="Arial"/>
                <a:ea typeface="Arial"/>
                <a:cs typeface="Arial"/>
              </a:rPr>
              <a:t>OPEN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6E1131-0CF2-4959-9BC1-BD90D7F1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62325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29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A paired Indian-language</a:t>
            </a:r>
          </a:p>
          <a:p xmlns:a="http://schemas.openxmlformats.org/drawingml/2006/main">
            <a:pPr>
              <a:defRPr sz="29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false-refusal audit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554105-E52E-4179-996D-01586DCB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467225"/>
            <a:ext cx="6572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3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13B637-DEC7-4DC5-8F8D-F9910B7F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7720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737ED3-CA57-4192-BBED-2E868F2D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7244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E9E1E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9E1E0"/>
                </a:solidFill>
                <a:latin typeface="Arial"/>
                <a:ea typeface="Arial"/>
                <a:cs typeface="Arial"/>
              </a:rPr>
              <a:t>Limited matched evaluation of benign prompts across several Indian languages and everyday styles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B018F7-B61D-43A1-AA6B-F920B896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29590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300ED1-15D2-4C1C-89C3-BDD4F98F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248275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E9E1E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9E1E0"/>
                </a:solidFill>
                <a:latin typeface="Arial"/>
                <a:ea typeface="Arial"/>
                <a:cs typeface="Arial"/>
              </a:rPr>
              <a:t>Language and communication style often remain mixed together rather than measured separately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DA3A06-D692-4A5E-9FD0-E7817595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8197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4E867F-4AFB-4245-8DCB-1D212F40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7721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E9E1E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9E1E0"/>
                </a:solidFill>
                <a:latin typeface="Arial"/>
                <a:ea typeface="Arial"/>
                <a:cs typeface="Arial"/>
              </a:rPr>
              <a:t>Refusal rate alone misses answer quality, tone, language matching, and clarification behavior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B89714-567A-4F7F-B971-A4C173D5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318BB1-D3F3-42AC-B2C5-40930248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6296025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E9E1E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9E1E0"/>
                </a:solidFill>
                <a:latin typeface="Arial"/>
                <a:ea typeface="Arial"/>
                <a:cs typeface="Arial"/>
              </a:rPr>
              <a:t>Few public datasets pair human-validated variants with responses from both closed and open model families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B762FA-6667-4C53-A018-8742E340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0"/>
            <a:ext cx="1362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67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Proposed contribution: a human-validated dataset of semantically equivalent prompts and model responses across ten conditions.</a:t>
            </a:r>
          </a:p>
        </p:txBody>
      </p:sp>
    </p:spTree>
    <p:extLst>
      <p:ext uri="{BB962C8B-B14F-4D97-AF65-F5344CB8AC3E}">
        <p14:creationId xmlns:p14="http://schemas.microsoft.com/office/powerpoint/2010/main" val="7722157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4C8329-5E71-4681-8563-B4DFA594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CURRENT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84DC9-B7A4-4B3B-BBCE-9E9F7D0E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8675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Pilot dataset and evaluation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DDBAC-CB2C-49C2-9066-4E85F2E7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352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The current phase builds the paired dataset and prepares controlled API collection.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E9454-5B90-4584-8A9A-CD457488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153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Computational Social Science  ·  Research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95782-80E0-4BE3-ABB7-09A47F5D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8115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27F9A-E7D5-458A-9BE8-5C50CF2A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3143250" cy="3190875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AFAC8-E9C3-47FE-944C-460FE3E9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38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E8AFA-2851-426A-AD21-676AD329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Source 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23593-BC0E-475E-B5F8-7FA1D139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257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Six canonical English prompts</a:t>
            </a:r>
          </a:p>
          <a:p xmlns:a="http://schemas.openxmlformats.org/drawingml/2006/main">
            <a:pPr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Four benign, safety-adjacent requests</a:t>
            </a:r>
          </a:p>
          <a:p xmlns:a="http://schemas.openxmlformats.org/drawingml/2006/main">
            <a:pPr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Two prompts that should be refused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0698A-F2F0-430E-B1E7-556489EC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571750"/>
            <a:ext cx="3143250" cy="3190875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B6AED-DC64-409B-899F-994AC1DE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765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38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D91978-F902-4688-AC4E-B4BD8A45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718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Ten conditions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D885A2-55AA-4463-9705-91C5BDFF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71950"/>
            <a:ext cx="257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Standard, Indian, and informal English</a:t>
            </a:r>
          </a:p>
          <a:p xmlns:a="http://schemas.openxmlformats.org/drawingml/2006/main">
            <a:pPr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Hindi and Hinglish</a:t>
            </a:r>
          </a:p>
          <a:p xmlns:a="http://schemas.openxmlformats.org/drawingml/2006/main">
            <a:pPr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Gujarati, Punjabi, Bengali, Marathi, Kannada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E822C3-6ECE-49EA-847C-70E355F1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71750"/>
            <a:ext cx="3143250" cy="3190875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019B46-7460-4BBF-B1FB-082DD4FC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765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38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D78E26-F87C-4316-8E58-6D5BA35B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718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Translation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84D28B-8A8A-4255-9509-3CFEACAD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257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Google Translate API for six languages</a:t>
            </a:r>
          </a:p>
          <a:p xmlns:a="http://schemas.openxmlformats.org/drawingml/2006/main">
            <a:pPr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Human writing or review for Indian English, informal English, and Hinglish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E82A2E-A57E-4B06-8060-70DA629D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571750"/>
            <a:ext cx="3143250" cy="3190875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2D2A3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3E8EF0-9F7B-416D-9DE9-D0623EDB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28765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38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C99734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C99734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6EDD1F-BA66-44B9-818C-2A43A76D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3718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Model responses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64B39D-186B-43FF-B566-86A5F135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4171950"/>
            <a:ext cx="257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E9E1E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9E1E0"/>
                </a:solidFill>
                <a:latin typeface="Arial"/>
                <a:ea typeface="Arial"/>
                <a:cs typeface="Arial"/>
              </a:rPr>
              <a:t>OpenAI GPT, Gemini, and Llama</a:t>
            </a:r>
          </a:p>
          <a:p xmlns:a="http://schemas.openxmlformats.org/drawingml/2006/main">
            <a:pPr>
              <a:defRPr sz="1350" b="0" i="0">
                <a:solidFill>
                  <a:srgbClr val="E9E1E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9E1E0"/>
                </a:solidFill>
                <a:latin typeface="Arial"/>
                <a:ea typeface="Arial"/>
                <a:cs typeface="Arial"/>
              </a:rPr>
              <a:t>Exact model versions will be fixed before collection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2FE6BD-89BD-4528-A3F2-7F0C5512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79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Work completed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A379D4-944C-4574-8EC4-7D2713C2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57975"/>
            <a:ext cx="1352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Source CSV with six prompts  ·  translation script  ·  API response collector  ·  annotation-ready output structure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45DC86-F443-4E2D-A995-BFE165F9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0"/>
            <a:ext cx="1415415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842F3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E378B6-72FE-403F-B5CB-7DBE20AD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009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8ECE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8ECEB"/>
                </a:solidFill>
                <a:latin typeface="Arial"/>
                <a:ea typeface="Arial"/>
                <a:cs typeface="Arial"/>
              </a:rPr>
              <a:t>Next milestone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912416-296F-492F-816B-331FE914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7343775"/>
            <a:ext cx="11191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75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FFEFB"/>
                </a:solidFill>
                <a:latin typeface="Arial"/>
                <a:ea typeface="Arial"/>
                <a:cs typeface="Arial"/>
              </a:rPr>
              <a:t>Finalize model versions, validate all 60 prompt variants, then collect 180 responses in the first run</a:t>
            </a:r>
          </a:p>
        </p:txBody>
      </p:sp>
    </p:spTree>
    <p:extLst>
      <p:ext uri="{BB962C8B-B14F-4D97-AF65-F5344CB8AC3E}">
        <p14:creationId xmlns:p14="http://schemas.microsoft.com/office/powerpoint/2010/main" val="15016221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2026-09-27T10:59:47.3220000Z</dcterms:created>
  <dcterms:modified xsi:type="dcterms:W3CDTF">2026-09-27T10:59:47.3220000Z</dcterms:modified>
</coreProperties>
</file>