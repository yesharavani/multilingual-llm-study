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c2ef77ba6435f" /><Relationship Type="http://schemas.openxmlformats.org/officeDocument/2006/relationships/extended-properties" Target="/docProps/app.xml" Id="Re2e4be0bd21f492a" /><Relationship Type="http://schemas.openxmlformats.org/officeDocument/2006/relationships/officeDocument" Target="/ppt/presentation.xml" Id="Rc82ca8d530c746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5b4a8416654eeb"/>
  </p:sldMasterIdLst>
  <p:notesMasterIdLst>
    <p:notesMasterId xmlns:r="http://schemas.openxmlformats.org/officeDocument/2006/relationships" r:id="Ra5b16b09fbdb4144"/>
  </p:notesMasterIdLst>
  <p:sldIdLst>
    <p:sldId xmlns:r="http://schemas.openxmlformats.org/officeDocument/2006/relationships" id="256" r:id="Ra35a97492a3349c5"/>
    <p:sldId xmlns:r="http://schemas.openxmlformats.org/officeDocument/2006/relationships" id="257" r:id="R4cba07ce1a4b40a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d1ef19f4b24b21" /><Relationship Type="http://schemas.openxmlformats.org/officeDocument/2006/relationships/slideMaster" Target="/ppt/slideMasters/slideMaster1.xml" Id="Rfe5b4a8416654eeb" /><Relationship Type="http://schemas.openxmlformats.org/officeDocument/2006/relationships/notesMaster" Target="/ppt/notesMasters/notesMaster1.xml" Id="Ra5b16b09fbdb4144" /><Relationship Type="http://schemas.openxmlformats.org/officeDocument/2006/relationships/presProps" Target="/ppt/presProps.xml" Id="Rc67e6195e6d24531" /><Relationship Type="http://schemas.openxmlformats.org/officeDocument/2006/relationships/tableStyles" Target="/ppt/tableStyles.xml" Id="Rcd2975cc1e0845d5" /><Relationship Type="http://schemas.openxmlformats.org/officeDocument/2006/relationships/slide" Target="/ppt/slides/slide1.xml" Id="Ra35a97492a3349c5" /><Relationship Type="http://schemas.openxmlformats.org/officeDocument/2006/relationships/slide" Target="/ppt/slides/slide2.xml" Id="R4cba07ce1a4b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5bb7c70f49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459b5b7024621" /><Relationship Type="http://schemas.openxmlformats.org/officeDocument/2006/relationships/notesMaster" Target="/ppt/notesMasters/notesMaster1.xml" Id="R2d342a72a6c2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3c2eec79f2413a" /><Relationship Type="http://schemas.openxmlformats.org/officeDocument/2006/relationships/notesMaster" Target="/ppt/notesMasters/notesMaster1.xml" Id="R47e1b1adc8254d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based on the user-provided proposal and research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construction plan based on the user-provided research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344ddeb04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963f243214446c" /><Relationship Type="http://schemas.openxmlformats.org/officeDocument/2006/relationships/slideLayout" Target="/ppt/slideLayouts/slideLayout1.xml" Id="Rbdeb2cc07e1248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b2cc07e1248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d95b1d794bc3" /><Relationship Type="http://schemas.openxmlformats.org/officeDocument/2006/relationships/notesSlide" Target="/ppt/notesSlides/notesSlide1.xml" Id="R2193c206452d47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336bb2a364688" /><Relationship Type="http://schemas.openxmlformats.org/officeDocument/2006/relationships/notesSlide" Target="/ppt/notesSlides/notesSlide2.xml" Id="R6fa8199470864e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0A9E9-4BD1-46F3-80E0-5278A702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RESEARCH PROPOSAL  ·  MULTILINGUAL LLM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A728B-8089-48E8-8796-4525617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352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Multilingual Safety Fairness in LLMs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738C7-9F7E-4FEF-8D37-F989D611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1343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418"/>
          </a:bodyPr>
          <a:lstStyle xmlns:a="http://schemas.openxmlformats.org/drawingml/2006/main"/>
          <a:p xmlns:a="http://schemas.openxmlformats.org/drawingml/2006/main">
            <a:pPr>
              <a:defRPr sz="2250" b="0" i="1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2250" b="0" i="1">
                <a:solidFill>
                  <a:srgbClr val="77727B"/>
                </a:solidFill>
                <a:latin typeface="Arial"/>
                <a:ea typeface="Arial"/>
                <a:cs typeface="Arial"/>
              </a:rPr>
              <a:t>Do equivalent benign requests receive equal assistance when users write in different Indian languages and communication styles?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B1D85-5994-4A5D-9420-41DFD196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14249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2A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C1FEB-B24F-4D4D-A3B9-45F25F3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7983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7983C"/>
                </a:solidFill>
                <a:latin typeface="Arial"/>
                <a:ea typeface="Arial"/>
                <a:cs typeface="Arial"/>
              </a:rPr>
              <a:t>Research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36E08-B4D5-4061-984B-855EB758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19425"/>
            <a:ext cx="1152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39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FFEF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EFC"/>
                </a:solidFill>
                <a:latin typeface="Arial"/>
                <a:ea typeface="Arial"/>
                <a:cs typeface="Arial"/>
              </a:rPr>
              <a:t>Compare the safety decision and helpfulness of each model response while holding the user’s underlying intent constant.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CFABF-CAA9-493B-8D62-BC3493D5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4381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D8D1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689DE-77F3-4C86-8333-37B61364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39A55-AFF2-4FF7-AA91-A3FCB2E3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43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Ten language and style 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38B38-9F9E-44B5-82A0-E5889168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83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Standard English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Indian English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Informal English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Hindi and Hinglish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F6170-7618-4E64-9547-1C0674EA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4381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D8D1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91991-AAD9-4CA4-8A7B-936999D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7200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C8A8B-6CFC-4E12-8B1C-07D9111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1015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92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Indian-language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D73A8-97D1-465B-8F61-B0B6F667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48350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83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Gujarati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Punjabi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Bengali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Marathi and Kannada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5DB9D-6A4D-4244-92D2-1D704305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24350"/>
            <a:ext cx="4381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D8D1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E5961-14A5-4943-97EE-FBED53B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F3542-F771-459F-99F7-40C519E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1015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Models under study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73E01-7181-4F71-90D0-7366B5A7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OpenAI GPT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Llama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Individual model versions to be selected later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2A778-B44A-436A-9A7F-51079B9F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0"/>
            <a:ext cx="14249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6E5"/>
          </a:solidFill>
          <a:ln xmlns:a="http://schemas.openxmlformats.org/drawingml/2006/main" w="14288">
            <a:solidFill>
              <a:srgbClr val="842E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90D5F-6413-4107-87FA-A53FF060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818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Primary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CFBEF-1B32-4FB7-8F66-12D00CF9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33425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5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B29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B292F"/>
                </a:solidFill>
                <a:latin typeface="Arial"/>
                <a:ea typeface="Arial"/>
                <a:cs typeface="Arial"/>
              </a:rPr>
              <a:t>Does language or communication style change the likelihood of a refusal or the usefulness of an answer?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F9608-7C89-4E6B-901F-8C344A67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391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7B2AA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BC55A-6964-4ED3-9D80-1462B5BD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39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7B2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5392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033BC-98EC-409E-8BBF-4DE5DF5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RESEARCH PROPOSAL  ·  DATASET &amp; EVALUATION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B0D9D-8D36-4C12-A7EB-43615380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352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Paired Multilingual Prompt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EB8C8-16CA-4E7D-B80D-F20DB807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Every source prompt has one canonical English version and ten matched language or style variants.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FC536-6D6C-43FD-BD8A-406BED74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43815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D8D1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BD8C-562F-4C17-97BE-4FD33F26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01  SOURCE PROMPTS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770FA-1D4A-4D0D-AF42-342DD524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02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Canonical English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8C954-D7C3-425B-B30F-2514F8C3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37719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Write safety-adjacent, benign prompts plus clearly disallowed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Keep a stable prompt ID and the expected outcome for each item.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9F224-5A9C-4DB7-BC7C-876D4BF1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43815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D8D1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D4981-5DA0-455C-A10B-B52BBF9C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432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02  MULTILINGUAL EXPANSION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97940-2D47-4E95-B711-87F79D06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8140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Ten matched 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1CD2A-E570-4703-A7DB-89E88FA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19600"/>
            <a:ext cx="37719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Use Google Translate API for native-language translations.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Manually write or review Indian English, informal English, and Hinglish because these are communication styles.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D68FD-8190-45DE-8B51-FAC947C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95600"/>
            <a:ext cx="43815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D8D1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2AEA2-E5AC-42F5-9D42-A8BF92E2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42E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E3A"/>
                </a:solidFill>
                <a:latin typeface="Arial"/>
                <a:ea typeface="Arial"/>
                <a:cs typeface="Arial"/>
              </a:rPr>
              <a:t>03  MODEL RESPONSE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81773-4FD2-4374-AE31-335BF34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8140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B292F"/>
                </a:solidFill>
                <a:latin typeface="Georgia"/>
                <a:ea typeface="Georgia"/>
                <a:cs typeface="Georgia"/>
              </a:rPr>
              <a:t>Three model families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30142-2132-44F6-A436-E5003F1D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19600"/>
            <a:ext cx="37719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Send every variant through OpenAI GPT, Gemini, and Llama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727B"/>
                </a:solidFill>
                <a:latin typeface="Arial"/>
                <a:ea typeface="Arial"/>
                <a:cs typeface="Arial"/>
              </a:rPr>
              <a:t>Store the exact model ID, settings, prompt text, and full raw response.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A88D6-F6E3-4B33-B7F2-D49A5270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57975"/>
            <a:ext cx="1424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42E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9D1DE-3646-4824-B0D0-49FA1567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96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EDE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8EDEB"/>
                </a:solidFill>
                <a:latin typeface="Arial"/>
                <a:ea typeface="Arial"/>
                <a:cs typeface="Arial"/>
              </a:rPr>
              <a:t>Response dataset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2AA80-5076-4BD8-8413-10BA31D7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10425"/>
            <a:ext cx="1295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56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FFFEFC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FFFEFC"/>
                </a:solidFill>
                <a:latin typeface="Arial"/>
                <a:ea typeface="Arial"/>
                <a:cs typeface="Arial"/>
              </a:rPr>
              <a:t>Per original prompt: 10 versions × 3 LLM families = 30 recorded responses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E0C23-2296-4E97-B112-DC6FA3AA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29550"/>
            <a:ext cx="1371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386"/>
          </a:bodyPr>
          <a:lstStyle xmlns:a="http://schemas.openxmlformats.org/drawingml/2006/main"/>
          <a:p xmlns:a="http://schemas.openxmlformats.org/drawingml/2006/main">
            <a:pPr>
              <a:defRPr sz="1425" b="0" i="1">
                <a:solidFill>
                  <a:srgbClr val="77727B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77727B"/>
                </a:solidFill>
                <a:latin typeface="Arial"/>
                <a:ea typeface="Arial"/>
                <a:cs typeface="Arial"/>
              </a:rPr>
              <a:t>Annotate each response: answer, refusal, warning, clarification, unsafe compliance, response language, and helpfulness.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45B98-1A18-4F1B-BCD5-91ADA9E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391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7B2AA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9FD12-E1E5-49C9-A1B1-6C531814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39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7B2A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7B2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1265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2026-09-24T09:24:37.1800000Z</dcterms:created>
  <dcterms:modified xsi:type="dcterms:W3CDTF">2026-09-24T09:24:37.1800000Z</dcterms:modified>
</coreProperties>
</file>